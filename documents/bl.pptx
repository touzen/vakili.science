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96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2e743132bd1b975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2e743132bd1b975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3c7d997fc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3c7d997fc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147" name="Google Shape;147;g3f3c7d997fc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4880485ed_0_0:notes"/>
          <p:cNvSpPr txBox="1"/>
          <p:nvPr>
            <p:ph idx="1" type="body"/>
          </p:nvPr>
        </p:nvSpPr>
        <p:spPr>
          <a:xfrm>
            <a:off x="685784" y="4343396"/>
            <a:ext cx="54864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f4880485ed_0_0:notes"/>
          <p:cNvSpPr/>
          <p:nvPr>
            <p:ph idx="2" type="sldImg"/>
          </p:nvPr>
        </p:nvSpPr>
        <p:spPr>
          <a:xfrm>
            <a:off x="1143208" y="685792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786968bc_0_0:notes"/>
          <p:cNvSpPr txBox="1"/>
          <p:nvPr>
            <p:ph idx="1" type="body"/>
          </p:nvPr>
        </p:nvSpPr>
        <p:spPr>
          <a:xfrm>
            <a:off x="685784" y="4343396"/>
            <a:ext cx="54864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f7786968bc_0_0:notes"/>
          <p:cNvSpPr/>
          <p:nvPr>
            <p:ph idx="2" type="sldImg"/>
          </p:nvPr>
        </p:nvSpPr>
        <p:spPr>
          <a:xfrm>
            <a:off x="1143208" y="685792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aa1320cec_8_35:notes"/>
          <p:cNvSpPr/>
          <p:nvPr>
            <p:ph idx="2" type="sldImg"/>
          </p:nvPr>
        </p:nvSpPr>
        <p:spPr>
          <a:xfrm>
            <a:off x="91024" y="685726"/>
            <a:ext cx="66777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aa1320cec_8_35:notes"/>
          <p:cNvSpPr txBox="1"/>
          <p:nvPr>
            <p:ph idx="1" type="body"/>
          </p:nvPr>
        </p:nvSpPr>
        <p:spPr>
          <a:xfrm>
            <a:off x="685480" y="4342450"/>
            <a:ext cx="5487000" cy="4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aa1320cec_8_35:notes"/>
          <p:cNvSpPr txBox="1"/>
          <p:nvPr>
            <p:ph idx="12" type="sldNum"/>
          </p:nvPr>
        </p:nvSpPr>
        <p:spPr>
          <a:xfrm>
            <a:off x="3883850" y="8684899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aa1320cec_8_54:notes"/>
          <p:cNvSpPr/>
          <p:nvPr>
            <p:ph idx="2" type="sldImg"/>
          </p:nvPr>
        </p:nvSpPr>
        <p:spPr>
          <a:xfrm>
            <a:off x="91024" y="685726"/>
            <a:ext cx="66777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aa1320cec_8_54:notes"/>
          <p:cNvSpPr txBox="1"/>
          <p:nvPr>
            <p:ph idx="1" type="body"/>
          </p:nvPr>
        </p:nvSpPr>
        <p:spPr>
          <a:xfrm>
            <a:off x="685480" y="4342450"/>
            <a:ext cx="5487000" cy="4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daa1320cec_8_54:notes"/>
          <p:cNvSpPr txBox="1"/>
          <p:nvPr>
            <p:ph idx="12" type="sldNum"/>
          </p:nvPr>
        </p:nvSpPr>
        <p:spPr>
          <a:xfrm>
            <a:off x="3883850" y="8684899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7786968b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f7786968b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4880485ed_0_62:notes"/>
          <p:cNvSpPr txBox="1"/>
          <p:nvPr>
            <p:ph idx="1" type="body"/>
          </p:nvPr>
        </p:nvSpPr>
        <p:spPr>
          <a:xfrm>
            <a:off x="685784" y="4343395"/>
            <a:ext cx="54864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f4880485ed_0_62:notes"/>
          <p:cNvSpPr/>
          <p:nvPr>
            <p:ph idx="2" type="sldImg"/>
          </p:nvPr>
        </p:nvSpPr>
        <p:spPr>
          <a:xfrm>
            <a:off x="1143208" y="685792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aa1320cec_8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daa1320cec_8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7786968b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f7786968b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aa1320cec_8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daa1320cec_8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Possible to extract </a:t>
            </a:r>
            <a:r>
              <a:rPr i="1"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gigabytes </a:t>
            </a: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of data from LLMs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Data from ChatGPT contained highly sensitive data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○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16.9% contained personal data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Verdana"/>
              <a:buChar char="○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85.8% of these were </a:t>
            </a:r>
            <a:r>
              <a:rPr b="1"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real personal data</a:t>
            </a:r>
            <a:endParaRPr b="1"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Risks of leakage increased with model size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7786968bc_0_106:notes"/>
          <p:cNvSpPr txBox="1"/>
          <p:nvPr>
            <p:ph idx="1" type="body"/>
          </p:nvPr>
        </p:nvSpPr>
        <p:spPr>
          <a:xfrm>
            <a:off x="685784" y="4343395"/>
            <a:ext cx="54864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Example that we are doing P(cats | i, like)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8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ANd that this is also just P(1231 | 123, 4354)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8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So P(Sweden | Stockholm is in)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8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is analogous to P(950208-6714 | THomas personal number is)</a:t>
            </a:r>
            <a:endParaRPr/>
          </a:p>
        </p:txBody>
      </p:sp>
      <p:sp>
        <p:nvSpPr>
          <p:cNvPr id="265" name="Google Shape;265;g3f7786968bc_0_106:notes"/>
          <p:cNvSpPr/>
          <p:nvPr>
            <p:ph idx="2" type="sldImg"/>
          </p:nvPr>
        </p:nvSpPr>
        <p:spPr>
          <a:xfrm>
            <a:off x="1143208" y="685792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7786968bc_0_143:notes"/>
          <p:cNvSpPr txBox="1"/>
          <p:nvPr>
            <p:ph idx="1" type="body"/>
          </p:nvPr>
        </p:nvSpPr>
        <p:spPr>
          <a:xfrm>
            <a:off x="685784" y="4343395"/>
            <a:ext cx="54864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Example that we are doing P(cats | i, like)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8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ANd that this is also just P(1231 | 123, 4354)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800"/>
              <a:buFont typeface="Calibri"/>
              <a:buChar char="●"/>
            </a:pPr>
            <a:r>
              <a:t/>
            </a:r>
            <a:endParaRPr/>
          </a:p>
        </p:txBody>
      </p:sp>
      <p:sp>
        <p:nvSpPr>
          <p:cNvPr id="281" name="Google Shape;281;g3f7786968bc_0_143:notes"/>
          <p:cNvSpPr/>
          <p:nvPr>
            <p:ph idx="2" type="sldImg"/>
          </p:nvPr>
        </p:nvSpPr>
        <p:spPr>
          <a:xfrm>
            <a:off x="1143208" y="685792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aa1320cec_8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daa1320cec_8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7786968bc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f7786968b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7786968b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f7786968b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2e743132bd1b975d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h2e743132bd1b975d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h4e7aee3e5a94ccf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h4e7aee3e5a94ccf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2e743132bd1b975d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2e743132bd1b975d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h2e743132bd1b975d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h2e743132bd1b975d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2e743132bd1b975d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h2e743132bd1b975d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aa1320cec_0_916:notes"/>
          <p:cNvSpPr txBox="1"/>
          <p:nvPr>
            <p:ph idx="1" type="body"/>
          </p:nvPr>
        </p:nvSpPr>
        <p:spPr>
          <a:xfrm>
            <a:off x="685784" y="4343395"/>
            <a:ext cx="54864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g3daa1320cec_0_916:notes"/>
          <p:cNvSpPr/>
          <p:nvPr>
            <p:ph idx="2" type="sldImg"/>
          </p:nvPr>
        </p:nvSpPr>
        <p:spPr>
          <a:xfrm>
            <a:off x="1143208" y="685792"/>
            <a:ext cx="45723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h2e743132bd1b975d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h2e743132bd1b975d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h4bf8eccaa02a3ee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h4bf8eccaa02a3ee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4bf8eccaa02a3ee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h4bf8eccaa02a3ee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7786968b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f7786968b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ubrikbild - kvist" showMasterSp="0">
  <p:cSld name="Rubrikbild - kvist">
    <p:bg>
      <p:bgPr>
        <a:solidFill>
          <a:schemeClr val="dk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467915" y="1286011"/>
            <a:ext cx="82083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Calibri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67915" y="2284796"/>
            <a:ext cx="82083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64884" y="4409351"/>
            <a:ext cx="1600567" cy="653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4329113" y="-891633"/>
            <a:ext cx="5122935" cy="5013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Rubrik, text och stor bild" showMasterSp="0">
  <p:cSld name="2_Rubrik, text och stor bild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467915" y="250984"/>
            <a:ext cx="3861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467916" y="897731"/>
            <a:ext cx="38613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3" name="Google Shape;23;p3"/>
          <p:cNvSpPr/>
          <p:nvPr>
            <p:ph idx="2" type="pic"/>
          </p:nvPr>
        </p:nvSpPr>
        <p:spPr>
          <a:xfrm>
            <a:off x="4814888" y="0"/>
            <a:ext cx="432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utsida" showMasterSp="0">
  <p:cSld name="Slutsida">
    <p:bg>
      <p:bgPr>
        <a:solidFill>
          <a:schemeClr val="dk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ctrTitle"/>
          </p:nvPr>
        </p:nvSpPr>
        <p:spPr>
          <a:xfrm>
            <a:off x="467915" y="1868117"/>
            <a:ext cx="82083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Calibri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404120" y="5356622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742020" y="5356622"/>
            <a:ext cx="328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467915" y="2700484"/>
            <a:ext cx="69672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cxnSp>
        <p:nvCxnSpPr>
          <p:cNvPr id="33" name="Google Shape;33;p4"/>
          <p:cNvCxnSpPr/>
          <p:nvPr/>
        </p:nvCxnSpPr>
        <p:spPr>
          <a:xfrm>
            <a:off x="467915" y="4111237"/>
            <a:ext cx="8208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77882" y="4181563"/>
            <a:ext cx="1588235" cy="6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4480560" y="-891632"/>
            <a:ext cx="4971485" cy="4865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ubrik, text och stor bild" showMasterSp="0">
  <p:cSld name="Rubrik, text och stor bild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467915" y="250984"/>
            <a:ext cx="3861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67916" y="897731"/>
            <a:ext cx="38613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5"/>
          <p:cNvSpPr/>
          <p:nvPr>
            <p:ph idx="2" type="pic"/>
          </p:nvPr>
        </p:nvSpPr>
        <p:spPr>
          <a:xfrm>
            <a:off x="4814888" y="0"/>
            <a:ext cx="432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Rubrik, text och stor bild" showMasterSp="0">
  <p:cSld name="1_Rubrik, text och stor bild 2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467915" y="250984"/>
            <a:ext cx="3861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467916" y="897731"/>
            <a:ext cx="38613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•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Char char="•"/>
              <a:defRPr/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6" name="Google Shape;46;p6"/>
          <p:cNvSpPr/>
          <p:nvPr>
            <p:ph idx="2" type="pic"/>
          </p:nvPr>
        </p:nvSpPr>
        <p:spPr>
          <a:xfrm>
            <a:off x="4814888" y="0"/>
            <a:ext cx="432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m" showMasterSp="0">
  <p:cSld name="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67915" y="-625673"/>
            <a:ext cx="8208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ubrikbild - eld" showMasterSp="0">
  <p:cSld name="Rubrikbild - eld">
    <p:bg>
      <p:bgPr>
        <a:solidFill>
          <a:schemeClr val="dk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ctrTitle"/>
          </p:nvPr>
        </p:nvSpPr>
        <p:spPr>
          <a:xfrm>
            <a:off x="467915" y="1286011"/>
            <a:ext cx="82083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Calibri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subTitle"/>
          </p:nvPr>
        </p:nvSpPr>
        <p:spPr>
          <a:xfrm>
            <a:off x="467915" y="2284796"/>
            <a:ext cx="82083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 amt="25000"/>
          </a:blip>
          <a:srcRect b="15583" l="0" r="0" t="2"/>
          <a:stretch/>
        </p:blipFill>
        <p:spPr>
          <a:xfrm>
            <a:off x="2760133" y="2497563"/>
            <a:ext cx="4584059" cy="264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4884" y="4409351"/>
            <a:ext cx="1600567" cy="653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ubrikbild - kronor" showMasterSp="0">
  <p:cSld name="Rubrikbild - krono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ctrTitle"/>
          </p:nvPr>
        </p:nvSpPr>
        <p:spPr>
          <a:xfrm>
            <a:off x="467915" y="1286011"/>
            <a:ext cx="82083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Calibri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467915" y="2284796"/>
            <a:ext cx="82083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2">
            <a:alphaModFix amt="25000"/>
          </a:blip>
          <a:srcRect b="8849" l="0" r="0" t="0"/>
          <a:stretch/>
        </p:blipFill>
        <p:spPr>
          <a:xfrm>
            <a:off x="2981325" y="2690719"/>
            <a:ext cx="3638549" cy="245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2300" y="4465800"/>
            <a:ext cx="1737360" cy="653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ubrik, text och liten bild">
  <p:cSld name="Rubrik, text och liten bild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467915" y="250984"/>
            <a:ext cx="3861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467916" y="897731"/>
            <a:ext cx="38613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0"/>
          <p:cNvSpPr/>
          <p:nvPr>
            <p:ph idx="2" type="pic"/>
          </p:nvPr>
        </p:nvSpPr>
        <p:spPr>
          <a:xfrm>
            <a:off x="4814888" y="465535"/>
            <a:ext cx="3861300" cy="40230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vå delar">
  <p:cSld name="Två dela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67915" y="250984"/>
            <a:ext cx="3861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67916" y="897731"/>
            <a:ext cx="38613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4814888" y="897731"/>
            <a:ext cx="38613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80" name="Google Shape;80;p11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ubrik och innehåll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467916" y="250984"/>
            <a:ext cx="6750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467915" y="897731"/>
            <a:ext cx="67500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sida - blå" showMasterSp="0">
  <p:cSld name="Kapitelsida - blå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ctrTitle"/>
          </p:nvPr>
        </p:nvSpPr>
        <p:spPr>
          <a:xfrm>
            <a:off x="467915" y="1286011"/>
            <a:ext cx="82083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Calibri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5100" y="4592701"/>
            <a:ext cx="1247400" cy="469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sida - orange" showMasterSp="0">
  <p:cSld name="Kapitelsida - oran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ctrTitle"/>
          </p:nvPr>
        </p:nvSpPr>
        <p:spPr>
          <a:xfrm>
            <a:off x="467915" y="1286011"/>
            <a:ext cx="82083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Calibri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97" name="Google Shape;97;p14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5100" y="4592701"/>
            <a:ext cx="1247400" cy="469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sida - grön" showMasterSp="0">
  <p:cSld name="Kapitelsida - grö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7915" y="1286011"/>
            <a:ext cx="82083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Calibri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03" name="Google Shape;103;p15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5100" y="4592701"/>
            <a:ext cx="1247400" cy="469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pitelsida - ljusblå">
  <p:cSld name="Kapitelsida - ljusblå">
    <p:bg>
      <p:bgPr>
        <a:solidFill>
          <a:schemeClr val="accent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ctrTitle"/>
          </p:nvPr>
        </p:nvSpPr>
        <p:spPr>
          <a:xfrm>
            <a:off x="467915" y="1286011"/>
            <a:ext cx="82083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Calibri"/>
              <a:buNone/>
              <a:defRPr sz="41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09" name="Google Shape;109;p16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6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" showMasterSp="0">
  <p:cSld name="Cita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476596" y="1318082"/>
            <a:ext cx="69069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Calibri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476596" y="2705295"/>
            <a:ext cx="6906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15" name="Google Shape;115;p17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17" name="Google Shape;11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22300" y="4465800"/>
            <a:ext cx="1737360" cy="653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ast rubrik - vit" type="titleOnly">
  <p:cSld name="TITLE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467915" y="250984"/>
            <a:ext cx="8208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21" name="Google Shape;121;p18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ast rubrik - ljusblå">
  <p:cSld name="Endast rubrik - ljusblå">
    <p:bg>
      <p:bgPr>
        <a:solidFill>
          <a:schemeClr val="accent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467915" y="250984"/>
            <a:ext cx="8208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126" name="Google Shape;126;p19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ubrikbild" type="title">
  <p:cSld name="TITL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ctrTitle"/>
          </p:nvPr>
        </p:nvSpPr>
        <p:spPr>
          <a:xfrm>
            <a:off x="1006475" y="1826419"/>
            <a:ext cx="66327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72000" spcFirstLastPara="1" rIns="72000" wrap="square" tIns="3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4400"/>
            </a:lvl1pPr>
            <a:lvl2pPr lvl="1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" type="subTitle"/>
          </p:nvPr>
        </p:nvSpPr>
        <p:spPr>
          <a:xfrm>
            <a:off x="1006475" y="2895600"/>
            <a:ext cx="66327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  <a:buClr>
                <a:srgbClr val="002F5F"/>
              </a:buClr>
              <a:buSzPts val="2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2F5F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2F5F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2F5F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2F5F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2F5F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2F5F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2F5F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2F5F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0" type="dt"/>
          </p:nvPr>
        </p:nvSpPr>
        <p:spPr>
          <a:xfrm>
            <a:off x="779462" y="4613672"/>
            <a:ext cx="11223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1" type="ftr"/>
          </p:nvPr>
        </p:nvSpPr>
        <p:spPr>
          <a:xfrm>
            <a:off x="1936750" y="4613672"/>
            <a:ext cx="44925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6586537" y="4613672"/>
            <a:ext cx="2133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m 1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idx="10" type="dt"/>
          </p:nvPr>
        </p:nvSpPr>
        <p:spPr>
          <a:xfrm>
            <a:off x="779462" y="4613672"/>
            <a:ext cx="11223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1" type="ftr"/>
          </p:nvPr>
        </p:nvSpPr>
        <p:spPr>
          <a:xfrm>
            <a:off x="1936750" y="4613672"/>
            <a:ext cx="44925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61111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6586537" y="4613672"/>
            <a:ext cx="21336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67915" y="250984"/>
            <a:ext cx="82083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67915" y="897731"/>
            <a:ext cx="8208300" cy="3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794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794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794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Char char="•"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38696" y="4752975"/>
            <a:ext cx="248400" cy="114300"/>
          </a:xfrm>
          <a:prstGeom prst="rect">
            <a:avLst/>
          </a:prstGeom>
          <a:noFill/>
          <a:ln cap="flat" cmpd="sng" w="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8100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76595" y="5356622"/>
            <a:ext cx="3609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76595" y="4778216"/>
            <a:ext cx="205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81732" y="4491212"/>
            <a:ext cx="1244933" cy="4684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3">
          <p15:clr>
            <a:srgbClr val="F26B43"/>
          </p15:clr>
        </p15:guide>
        <p15:guide id="2" pos="295">
          <p15:clr>
            <a:srgbClr val="F26B43"/>
          </p15:clr>
        </p15:guide>
        <p15:guide id="3" pos="5465">
          <p15:clr>
            <a:srgbClr val="F26B43"/>
          </p15:clr>
        </p15:guide>
        <p15:guide id="4" orient="horz" pos="429">
          <p15:clr>
            <a:srgbClr val="F26B43"/>
          </p15:clr>
        </p15:guide>
        <p15:guide id="5" orient="horz" pos="565">
          <p15:clr>
            <a:srgbClr val="F26B43"/>
          </p15:clr>
        </p15:guide>
        <p15:guide id="6" pos="2880">
          <p15:clr>
            <a:srgbClr val="F26B43"/>
          </p15:clr>
        </p15:guide>
        <p15:guide id="7" pos="2727">
          <p15:clr>
            <a:srgbClr val="F26B43"/>
          </p15:clr>
        </p15:guide>
        <p15:guide id="8" pos="3033">
          <p15:clr>
            <a:srgbClr val="F26B43"/>
          </p15:clr>
        </p15:guide>
        <p15:guide id="9" pos="2574">
          <p15:clr>
            <a:srgbClr val="F26B43"/>
          </p15:clr>
        </p15:guide>
        <p15:guide id="10" orient="horz" pos="2827">
          <p15:clr>
            <a:srgbClr val="F26B43"/>
          </p15:clr>
        </p15:guide>
        <p15:guide id="11" orient="horz" pos="3066">
          <p15:clr>
            <a:srgbClr val="F26B43"/>
          </p15:clr>
        </p15:guide>
        <p15:guide id="12" orient="horz" pos="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hyperlink" Target="https://chat.openai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hyperlink" Target="http://text-processing.com/demo/sentiment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Relationship Id="rId4" Type="http://schemas.openxmlformats.org/officeDocument/2006/relationships/hyperlink" Target="https://thorehusfeldt.com/2023/03/02/reinforcement-learning-using-human-feedback-is-putting-smileys-on-a-shoggoth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3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Relationship Id="rId6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flickr.com/photos/125112383@N06/28007336956" TargetMode="External"/><Relationship Id="rId4" Type="http://schemas.openxmlformats.org/officeDocument/2006/relationships/hyperlink" Target="https://www.flickr.com/photos/125112383@N06" TargetMode="External"/><Relationship Id="rId5" Type="http://schemas.openxmlformats.org/officeDocument/2006/relationships/hyperlink" Target="https://www.flickr.com/photos/125112383@N06" TargetMode="External"/><Relationship Id="rId6" Type="http://schemas.openxmlformats.org/officeDocument/2006/relationships/hyperlink" Target="https://creativecommons.org/licenses/by/2.0/?ref=openverse" TargetMode="External"/><Relationship Id="rId7" Type="http://schemas.openxmlformats.org/officeDocument/2006/relationships/hyperlink" Target="https://creativecommons.org/licenses/by/2.0/?ref=openverse" TargetMode="External"/><Relationship Id="rId8" Type="http://schemas.openxmlformats.org/officeDocument/2006/relationships/image" Target="../media/image2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flickr.com/photos/125112383@N06/28007336956" TargetMode="External"/><Relationship Id="rId4" Type="http://schemas.openxmlformats.org/officeDocument/2006/relationships/hyperlink" Target="https://www.flickr.com/photos/125112383@N06" TargetMode="External"/><Relationship Id="rId5" Type="http://schemas.openxmlformats.org/officeDocument/2006/relationships/hyperlink" Target="https://www.flickr.com/photos/125112383@N06" TargetMode="External"/><Relationship Id="rId6" Type="http://schemas.openxmlformats.org/officeDocument/2006/relationships/hyperlink" Target="https://creativecommons.org/licenses/by/2.0/?ref=openverse" TargetMode="External"/><Relationship Id="rId7" Type="http://schemas.openxmlformats.org/officeDocument/2006/relationships/hyperlink" Target="https://creativecommons.org/licenses/by/2.0/?ref=openverse" TargetMode="External"/><Relationship Id="rId8" Type="http://schemas.openxmlformats.org/officeDocument/2006/relationships/image" Target="../media/image3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ctrTitle"/>
          </p:nvPr>
        </p:nvSpPr>
        <p:spPr>
          <a:xfrm>
            <a:off x="1006475" y="1537344"/>
            <a:ext cx="6632700" cy="1069200"/>
          </a:xfrm>
          <a:prstGeom prst="rect">
            <a:avLst/>
          </a:prstGeom>
        </p:spPr>
        <p:txBody>
          <a:bodyPr anchorCtr="0" anchor="ctr" bIns="36000" lIns="72000" spcFirstLastPara="1" rIns="72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sv" sz="3900"/>
              <a:t>Trends and Challenges in Privacy Preserving NLP</a:t>
            </a:r>
            <a:endParaRPr i="1" sz="3900"/>
          </a:p>
        </p:txBody>
      </p:sp>
      <p:sp>
        <p:nvSpPr>
          <p:cNvPr id="143" name="Google Shape;143;p22"/>
          <p:cNvSpPr txBox="1"/>
          <p:nvPr>
            <p:ph idx="1" type="subTitle"/>
          </p:nvPr>
        </p:nvSpPr>
        <p:spPr>
          <a:xfrm>
            <a:off x="1006475" y="2990625"/>
            <a:ext cx="7028700" cy="87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sv"/>
              <a:t>Thomas Vakili, PhD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sv"/>
              <a:t>thomas.vakili@dsv.su.se</a:t>
            </a:r>
            <a:br>
              <a:rPr lang="sv"/>
            </a:br>
            <a:r>
              <a:rPr lang="sv"/>
              <a:t>thomas@vakili.net</a:t>
            </a:r>
            <a:br>
              <a:rPr lang="sv"/>
            </a:br>
            <a:r>
              <a:rPr lang="sv"/>
              <a:t>https://vakili.science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-1" y="1248506"/>
            <a:ext cx="49722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347437" y="1248506"/>
            <a:ext cx="56625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First: what </a:t>
            </a:r>
            <a:r>
              <a:rPr b="1" i="1" lang="sv"/>
              <a:t>is</a:t>
            </a:r>
            <a:r>
              <a:rPr b="1" lang="sv"/>
              <a:t> NLP?</a:t>
            </a:r>
            <a:endParaRPr b="1"/>
          </a:p>
        </p:txBody>
      </p:sp>
      <p:pic>
        <p:nvPicPr>
          <p:cNvPr id="151" name="Google Shape;151;p23"/>
          <p:cNvPicPr preferRelativeResize="0"/>
          <p:nvPr/>
        </p:nvPicPr>
        <p:blipFill rotWithShape="1">
          <a:blip r:embed="rId3">
            <a:alphaModFix/>
          </a:blip>
          <a:srcRect b="0" l="0" r="-1235" t="0"/>
          <a:stretch/>
        </p:blipFill>
        <p:spPr>
          <a:xfrm>
            <a:off x="5354200" y="681050"/>
            <a:ext cx="3588300" cy="401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/>
          <p:nvPr/>
        </p:nvSpPr>
        <p:spPr>
          <a:xfrm>
            <a:off x="868200" y="1275480"/>
            <a:ext cx="6849600" cy="3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89169" lvl="0" marL="343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Natural language generation</a:t>
            </a:r>
            <a:r>
              <a:rPr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text → text</a:t>
            </a:r>
            <a:endParaRPr sz="1800">
              <a:solidFill>
                <a:srgbClr val="002F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7" name="Google Shape;1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025" y="1853800"/>
            <a:ext cx="5605226" cy="27598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 txBox="1"/>
          <p:nvPr/>
        </p:nvSpPr>
        <p:spPr>
          <a:xfrm>
            <a:off x="2938450" y="4613675"/>
            <a:ext cx="326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sv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https://chat.openai.com/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0" y="251000"/>
            <a:ext cx="54093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4"/>
          <p:cNvSpPr txBox="1"/>
          <p:nvPr>
            <p:ph idx="4294967295" type="title"/>
          </p:nvPr>
        </p:nvSpPr>
        <p:spPr>
          <a:xfrm>
            <a:off x="347451" y="251000"/>
            <a:ext cx="48477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Transforming to, from, or with text</a:t>
            </a:r>
            <a:endParaRPr b="1" i="1"/>
          </a:p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138701" y="4752975"/>
            <a:ext cx="329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/>
          <p:nvPr/>
        </p:nvSpPr>
        <p:spPr>
          <a:xfrm>
            <a:off x="868200" y="1275480"/>
            <a:ext cx="6849600" cy="3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89169" lvl="0" marL="3430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●"/>
            </a:pPr>
            <a:r>
              <a:rPr i="0" lang="sv" sz="1800" u="none" cap="none" strike="noStrike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Text classification: text → category</a:t>
            </a:r>
            <a:endParaRPr i="0" sz="1800" u="none" cap="none" strike="noStrike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F5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20833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5775" y="1853800"/>
            <a:ext cx="4732450" cy="2503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2938450" y="4613675"/>
            <a:ext cx="326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sv" sz="1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http://text-processing.com/demo/sentiment/</a:t>
            </a:r>
            <a:endParaRPr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5"/>
          <p:cNvSpPr txBox="1"/>
          <p:nvPr>
            <p:ph idx="4294967295" type="title"/>
          </p:nvPr>
        </p:nvSpPr>
        <p:spPr>
          <a:xfrm>
            <a:off x="347438" y="250988"/>
            <a:ext cx="464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From text to structure</a:t>
            </a:r>
            <a:endParaRPr b="1"/>
          </a:p>
        </p:txBody>
      </p:sp>
      <p:sp>
        <p:nvSpPr>
          <p:cNvPr id="171" name="Google Shape;171;p25"/>
          <p:cNvSpPr txBox="1"/>
          <p:nvPr>
            <p:ph idx="12" type="sldNum"/>
          </p:nvPr>
        </p:nvSpPr>
        <p:spPr>
          <a:xfrm>
            <a:off x="138701" y="4752975"/>
            <a:ext cx="329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2000700" y="1521550"/>
            <a:ext cx="3165000" cy="2848200"/>
          </a:xfrm>
          <a:prstGeom prst="triangle">
            <a:avLst>
              <a:gd fmla="val 50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3033750" y="1521550"/>
            <a:ext cx="1107000" cy="1009500"/>
          </a:xfrm>
          <a:prstGeom prst="triangle">
            <a:avLst>
              <a:gd fmla="val 50000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79" name="Google Shape;179;p26"/>
          <p:cNvSpPr/>
          <p:nvPr/>
        </p:nvSpPr>
        <p:spPr>
          <a:xfrm>
            <a:off x="1995000" y="3457650"/>
            <a:ext cx="3165050" cy="907075"/>
          </a:xfrm>
          <a:custGeom>
            <a:rect b="b" l="l" r="r" t="t"/>
            <a:pathLst>
              <a:path extrusionOk="0" h="36283" w="126602">
                <a:moveTo>
                  <a:pt x="20677" y="0"/>
                </a:moveTo>
                <a:lnTo>
                  <a:pt x="106314" y="195"/>
                </a:lnTo>
                <a:lnTo>
                  <a:pt x="126602" y="36283"/>
                </a:lnTo>
                <a:lnTo>
                  <a:pt x="0" y="36283"/>
                </a:lnTo>
                <a:close/>
              </a:path>
            </a:pathLst>
          </a:cu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0" name="Google Shape;180;p26"/>
          <p:cNvSpPr txBox="1"/>
          <p:nvPr/>
        </p:nvSpPr>
        <p:spPr>
          <a:xfrm>
            <a:off x="3065400" y="1915450"/>
            <a:ext cx="104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200">
                <a:latin typeface="Calibri"/>
                <a:ea typeface="Calibri"/>
                <a:cs typeface="Calibri"/>
                <a:sym typeface="Calibri"/>
              </a:rPr>
              <a:t>Task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200">
                <a:latin typeface="Calibri"/>
                <a:ea typeface="Calibri"/>
                <a:cs typeface="Calibri"/>
                <a:sym typeface="Calibri"/>
              </a:rPr>
              <a:t>Specifics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3095850" y="2717300"/>
            <a:ext cx="98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200">
                <a:latin typeface="Calibri"/>
                <a:ea typeface="Calibri"/>
                <a:cs typeface="Calibri"/>
                <a:sym typeface="Calibri"/>
              </a:rPr>
              <a:t>Sequence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200">
                <a:latin typeface="Calibri"/>
                <a:ea typeface="Calibri"/>
                <a:cs typeface="Calibri"/>
                <a:sym typeface="Calibri"/>
              </a:rPr>
              <a:t>modelling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2867250" y="3726538"/>
            <a:ext cx="144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200">
                <a:latin typeface="Calibri"/>
                <a:ea typeface="Calibri"/>
                <a:cs typeface="Calibri"/>
                <a:sym typeface="Calibri"/>
              </a:rPr>
              <a:t>Word modelling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\{\vec w_{I}, \vec w_{am},\vec w_{happy}\} \rightarrow \vec s_{\text{&quot;I am happy&quot;yyyyyy&quot;}}" id="183" name="Google Shape;183;p26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9739" t="0"/>
          <a:stretch/>
        </p:blipFill>
        <p:spPr>
          <a:xfrm>
            <a:off x="5234711" y="2889675"/>
            <a:ext cx="2966850" cy="27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26"/>
          <p:cNvGrpSpPr/>
          <p:nvPr/>
        </p:nvGrpSpPr>
        <p:grpSpPr>
          <a:xfrm>
            <a:off x="4995988" y="3729288"/>
            <a:ext cx="3444289" cy="298913"/>
            <a:chOff x="4948488" y="3563513"/>
            <a:chExt cx="3444289" cy="298913"/>
          </a:xfrm>
        </p:grpSpPr>
        <p:pic>
          <p:nvPicPr>
            <p:cNvPr descr="\rightarrow \{\vec w_{I}, \vec w_{am},\vec w_{happy}\}" id="185" name="Google Shape;185;p26" title="MathEquation,#00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42135" y="3563513"/>
              <a:ext cx="2050642" cy="27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\text{&quot;I am happy&quot;yyyyyy&quot;}" id="186" name="Google Shape;186;p26" title="MathEquation,#000000"/>
            <p:cNvPicPr preferRelativeResize="0"/>
            <p:nvPr/>
          </p:nvPicPr>
          <p:blipFill rotWithShape="1">
            <a:blip r:embed="rId5">
              <a:alphaModFix/>
            </a:blip>
            <a:srcRect b="0" l="0" r="24727" t="0"/>
            <a:stretch/>
          </p:blipFill>
          <p:spPr>
            <a:xfrm>
              <a:off x="4948488" y="3609526"/>
              <a:ext cx="1324404" cy="25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26"/>
          <p:cNvGrpSpPr/>
          <p:nvPr/>
        </p:nvGrpSpPr>
        <p:grpSpPr>
          <a:xfrm>
            <a:off x="5636974" y="2025725"/>
            <a:ext cx="2162301" cy="279400"/>
            <a:chOff x="5600824" y="2009925"/>
            <a:chExt cx="2162301" cy="279400"/>
          </a:xfrm>
        </p:grpSpPr>
        <p:pic>
          <p:nvPicPr>
            <p:cNvPr descr=" \{\vec w_{I}, \vec w_{am},\vec w_{happy}\} \rightarrow \vec s_{\text{&quot;I am happy&quot;yyyyyy&quot;}}" id="188" name="Google Shape;188;p26" title="MathEquation,#000000"/>
            <p:cNvPicPr preferRelativeResize="0"/>
            <p:nvPr/>
          </p:nvPicPr>
          <p:blipFill rotWithShape="1">
            <a:blip r:embed="rId3">
              <a:alphaModFix/>
            </a:blip>
            <a:srcRect b="0" l="56582" r="9740" t="0"/>
            <a:stretch/>
          </p:blipFill>
          <p:spPr>
            <a:xfrm>
              <a:off x="5600824" y="2009925"/>
              <a:ext cx="1107000" cy="27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rightarrow positive" id="189" name="Google Shape;189;p26" title="MathEquation,#0000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8289" y="2035335"/>
              <a:ext cx="1004836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26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 txBox="1"/>
          <p:nvPr>
            <p:ph idx="4294967295" type="title"/>
          </p:nvPr>
        </p:nvSpPr>
        <p:spPr>
          <a:xfrm>
            <a:off x="347438" y="250988"/>
            <a:ext cx="464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The NLP pyramid</a:t>
            </a:r>
            <a:endParaRPr b="1"/>
          </a:p>
        </p:txBody>
      </p:sp>
      <p:sp>
        <p:nvSpPr>
          <p:cNvPr id="192" name="Google Shape;192;p26"/>
          <p:cNvSpPr txBox="1"/>
          <p:nvPr>
            <p:ph idx="12" type="sldNum"/>
          </p:nvPr>
        </p:nvSpPr>
        <p:spPr>
          <a:xfrm>
            <a:off x="138701" y="4752975"/>
            <a:ext cx="329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/>
          <p:nvPr/>
        </p:nvSpPr>
        <p:spPr>
          <a:xfrm>
            <a:off x="2000700" y="1521550"/>
            <a:ext cx="3165000" cy="28482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7"/>
          <p:cNvSpPr/>
          <p:nvPr/>
        </p:nvSpPr>
        <p:spPr>
          <a:xfrm>
            <a:off x="3031050" y="1521550"/>
            <a:ext cx="1109700" cy="10095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00" name="Google Shape;200;p27"/>
          <p:cNvSpPr/>
          <p:nvPr/>
        </p:nvSpPr>
        <p:spPr>
          <a:xfrm>
            <a:off x="1995000" y="3457650"/>
            <a:ext cx="3165050" cy="907075"/>
          </a:xfrm>
          <a:custGeom>
            <a:rect b="b" l="l" r="r" t="t"/>
            <a:pathLst>
              <a:path extrusionOk="0" h="36283" w="126602">
                <a:moveTo>
                  <a:pt x="20677" y="0"/>
                </a:moveTo>
                <a:lnTo>
                  <a:pt x="106314" y="195"/>
                </a:lnTo>
                <a:lnTo>
                  <a:pt x="126602" y="36283"/>
                </a:lnTo>
                <a:lnTo>
                  <a:pt x="0" y="36283"/>
                </a:lnTo>
                <a:close/>
              </a:path>
            </a:pathLst>
          </a:cu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1" name="Google Shape;201;p27"/>
          <p:cNvSpPr txBox="1"/>
          <p:nvPr/>
        </p:nvSpPr>
        <p:spPr>
          <a:xfrm>
            <a:off x="3065400" y="1915450"/>
            <a:ext cx="104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200" strike="sngStrike">
                <a:latin typeface="Calibri"/>
                <a:ea typeface="Calibri"/>
                <a:cs typeface="Calibri"/>
                <a:sym typeface="Calibri"/>
              </a:rPr>
              <a:t>Task</a:t>
            </a:r>
            <a:endParaRPr sz="1200" strike="sngStrike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200" strike="sngStrike">
                <a:latin typeface="Calibri"/>
                <a:ea typeface="Calibri"/>
                <a:cs typeface="Calibri"/>
                <a:sym typeface="Calibri"/>
              </a:rPr>
              <a:t>Specifics</a:t>
            </a:r>
            <a:endParaRPr sz="1200" strike="sng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3095850" y="2717300"/>
            <a:ext cx="98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200" strike="sngStrike">
                <a:latin typeface="Calibri"/>
                <a:ea typeface="Calibri"/>
                <a:cs typeface="Calibri"/>
                <a:sym typeface="Calibri"/>
              </a:rPr>
              <a:t>Sequence</a:t>
            </a:r>
            <a:endParaRPr sz="1200" strike="sngStrike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200" strike="sngStrike">
                <a:latin typeface="Calibri"/>
                <a:ea typeface="Calibri"/>
                <a:cs typeface="Calibri"/>
                <a:sym typeface="Calibri"/>
              </a:rPr>
              <a:t>modelling</a:t>
            </a:r>
            <a:endParaRPr sz="1200" strike="sng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2867250" y="3726538"/>
            <a:ext cx="144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1200" strike="sngStrike">
                <a:latin typeface="Calibri"/>
                <a:ea typeface="Calibri"/>
                <a:cs typeface="Calibri"/>
                <a:sym typeface="Calibri"/>
              </a:rPr>
              <a:t>Word modelling</a:t>
            </a:r>
            <a:endParaRPr sz="1200" strike="sngStrike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\{\vec w_{I}, \vec w_{am},\vec w_{happy}\} \rightarrow \vec s_{\text{&quot;I am happy&quot;yyyyyy&quot;}}" id="204" name="Google Shape;204;p27" title="MathEquation,#000000"/>
          <p:cNvPicPr preferRelativeResize="0"/>
          <p:nvPr/>
        </p:nvPicPr>
        <p:blipFill rotWithShape="1">
          <a:blip r:embed="rId3">
            <a:alphaModFix/>
          </a:blip>
          <a:srcRect b="0" l="0" r="9739" t="0"/>
          <a:stretch/>
        </p:blipFill>
        <p:spPr>
          <a:xfrm>
            <a:off x="5234711" y="2889675"/>
            <a:ext cx="2966850" cy="27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7"/>
          <p:cNvGrpSpPr/>
          <p:nvPr/>
        </p:nvGrpSpPr>
        <p:grpSpPr>
          <a:xfrm>
            <a:off x="4995988" y="3729288"/>
            <a:ext cx="3444289" cy="298913"/>
            <a:chOff x="4948488" y="3563513"/>
            <a:chExt cx="3444289" cy="298913"/>
          </a:xfrm>
        </p:grpSpPr>
        <p:pic>
          <p:nvPicPr>
            <p:cNvPr descr="\rightarrow \{\vec w_{I}, \vec w_{am},\vec w_{happy}\}" id="206" name="Google Shape;206;p27" title="MathEquation,#00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42135" y="3563513"/>
              <a:ext cx="2050642" cy="27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\text{&quot;I am happy&quot;yyyyyy&quot;}" id="207" name="Google Shape;207;p27" title="MathEquation,#000000"/>
            <p:cNvPicPr preferRelativeResize="0"/>
            <p:nvPr/>
          </p:nvPicPr>
          <p:blipFill rotWithShape="1">
            <a:blip r:embed="rId5">
              <a:alphaModFix/>
            </a:blip>
            <a:srcRect b="0" l="0" r="24727" t="0"/>
            <a:stretch/>
          </p:blipFill>
          <p:spPr>
            <a:xfrm>
              <a:off x="4948488" y="3609526"/>
              <a:ext cx="1324404" cy="252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8" name="Google Shape;208;p27"/>
          <p:cNvSpPr/>
          <p:nvPr/>
        </p:nvSpPr>
        <p:spPr>
          <a:xfrm rot="1743985">
            <a:off x="2612503" y="1520237"/>
            <a:ext cx="141410" cy="3017038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7"/>
          <p:cNvSpPr/>
          <p:nvPr/>
        </p:nvSpPr>
        <p:spPr>
          <a:xfrm rot="1768553">
            <a:off x="3410481" y="1483427"/>
            <a:ext cx="118889" cy="246896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0" name="Google Shape;210;p27"/>
          <p:cNvCxnSpPr/>
          <p:nvPr/>
        </p:nvCxnSpPr>
        <p:spPr>
          <a:xfrm rot="10800000">
            <a:off x="4996000" y="3869150"/>
            <a:ext cx="3556800" cy="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7"/>
          <p:cNvSpPr txBox="1"/>
          <p:nvPr/>
        </p:nvSpPr>
        <p:spPr>
          <a:xfrm rot="-3432770">
            <a:off x="2559508" y="1317316"/>
            <a:ext cx="1531246" cy="4001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sv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 b="1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27"/>
          <p:cNvCxnSpPr/>
          <p:nvPr/>
        </p:nvCxnSpPr>
        <p:spPr>
          <a:xfrm rot="10800000">
            <a:off x="5128700" y="3025075"/>
            <a:ext cx="3181800" cy="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27"/>
          <p:cNvSpPr txBox="1"/>
          <p:nvPr/>
        </p:nvSpPr>
        <p:spPr>
          <a:xfrm rot="-3532992">
            <a:off x="1067285" y="2391189"/>
            <a:ext cx="2446282" cy="8310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sv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endParaRPr b="1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sv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sv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instruction tuning</a:t>
            </a:r>
            <a:endParaRPr b="1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27"/>
          <p:cNvGrpSpPr/>
          <p:nvPr/>
        </p:nvGrpSpPr>
        <p:grpSpPr>
          <a:xfrm>
            <a:off x="5636974" y="2025725"/>
            <a:ext cx="2162301" cy="279400"/>
            <a:chOff x="5600824" y="2009925"/>
            <a:chExt cx="2162301" cy="279400"/>
          </a:xfrm>
        </p:grpSpPr>
        <p:pic>
          <p:nvPicPr>
            <p:cNvPr descr=" \{\vec w_{I}, \vec w_{am},\vec w_{happy}\} \rightarrow \vec s_{\text{&quot;I am happy&quot;yyyyyy&quot;}}" id="215" name="Google Shape;215;p27" title="MathEquation,#000000"/>
            <p:cNvPicPr preferRelativeResize="0"/>
            <p:nvPr/>
          </p:nvPicPr>
          <p:blipFill rotWithShape="1">
            <a:blip r:embed="rId3">
              <a:alphaModFix/>
            </a:blip>
            <a:srcRect b="0" l="56582" r="9740" t="0"/>
            <a:stretch/>
          </p:blipFill>
          <p:spPr>
            <a:xfrm>
              <a:off x="5600824" y="2009925"/>
              <a:ext cx="1107000" cy="27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\rightarrow positive" id="216" name="Google Shape;216;p27" title="MathEquation,#0000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758289" y="2035335"/>
              <a:ext cx="1004836" cy="228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7" name="Google Shape;217;p27"/>
          <p:cNvCxnSpPr/>
          <p:nvPr/>
        </p:nvCxnSpPr>
        <p:spPr>
          <a:xfrm rot="10800000">
            <a:off x="5393425" y="2172775"/>
            <a:ext cx="25890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7"/>
          <p:cNvSpPr/>
          <p:nvPr/>
        </p:nvSpPr>
        <p:spPr>
          <a:xfrm>
            <a:off x="3459350" y="1521550"/>
            <a:ext cx="251100" cy="222000"/>
          </a:xfrm>
          <a:prstGeom prst="triangle">
            <a:avLst>
              <a:gd fmla="val 5000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19" name="Google Shape;219;p27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7"/>
          <p:cNvSpPr txBox="1"/>
          <p:nvPr>
            <p:ph idx="4294967295" type="title"/>
          </p:nvPr>
        </p:nvSpPr>
        <p:spPr>
          <a:xfrm>
            <a:off x="347438" y="250988"/>
            <a:ext cx="464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Prompt-based NLP</a:t>
            </a:r>
            <a:endParaRPr b="1"/>
          </a:p>
        </p:txBody>
      </p:sp>
      <p:sp>
        <p:nvSpPr>
          <p:cNvPr id="221" name="Google Shape;221;p27"/>
          <p:cNvSpPr txBox="1"/>
          <p:nvPr>
            <p:ph idx="12" type="sldNum"/>
          </p:nvPr>
        </p:nvSpPr>
        <p:spPr>
          <a:xfrm>
            <a:off x="138701" y="4752975"/>
            <a:ext cx="329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8" title="Points scor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0300" y="1294850"/>
            <a:ext cx="4928949" cy="3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8"/>
          <p:cNvSpPr/>
          <p:nvPr/>
        </p:nvSpPr>
        <p:spPr>
          <a:xfrm>
            <a:off x="4850100" y="3871875"/>
            <a:ext cx="476400" cy="195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5326500" y="3624425"/>
            <a:ext cx="25689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sv" sz="1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3 billion tokens!</a:t>
            </a:r>
            <a:endParaRPr b="0" i="0" sz="1400" u="none" cap="none" strike="noStrik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8"/>
          <p:cNvSpPr txBox="1"/>
          <p:nvPr>
            <p:ph type="title"/>
          </p:nvPr>
        </p:nvSpPr>
        <p:spPr>
          <a:xfrm>
            <a:off x="347438" y="250988"/>
            <a:ext cx="464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Datasets have grown </a:t>
            </a:r>
            <a:r>
              <a:rPr b="1" i="1" lang="sv"/>
              <a:t>fast</a:t>
            </a:r>
            <a:endParaRPr b="1" i="1"/>
          </a:p>
        </p:txBody>
      </p:sp>
      <p:sp>
        <p:nvSpPr>
          <p:cNvPr id="231" name="Google Shape;231;p28"/>
          <p:cNvSpPr txBox="1"/>
          <p:nvPr>
            <p:ph idx="12" type="sldNum"/>
          </p:nvPr>
        </p:nvSpPr>
        <p:spPr>
          <a:xfrm>
            <a:off x="138701" y="4752975"/>
            <a:ext cx="329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 sz="1200"/>
              <a:t>‹#›</a:t>
            </a:fld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/>
        </p:nvSpPr>
        <p:spPr>
          <a:xfrm>
            <a:off x="1202750" y="4932925"/>
            <a:ext cx="471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-1" y="1248506"/>
            <a:ext cx="49722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9"/>
          <p:cNvSpPr txBox="1"/>
          <p:nvPr>
            <p:ph idx="4294967295" type="title"/>
          </p:nvPr>
        </p:nvSpPr>
        <p:spPr>
          <a:xfrm>
            <a:off x="347437" y="1248506"/>
            <a:ext cx="56625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Privacy and LLMs</a:t>
            </a:r>
            <a:endParaRPr b="1" i="1"/>
          </a:p>
        </p:txBody>
      </p:sp>
      <p:pic>
        <p:nvPicPr>
          <p:cNvPr id="239" name="Google Shape;23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7350" y="1373726"/>
            <a:ext cx="3553000" cy="294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0"/>
          <p:cNvPicPr preferRelativeResize="0"/>
          <p:nvPr/>
        </p:nvPicPr>
        <p:blipFill rotWithShape="1">
          <a:blip r:embed="rId3">
            <a:alphaModFix/>
          </a:blip>
          <a:srcRect b="0" l="1000" r="1000" t="0"/>
          <a:stretch/>
        </p:blipFill>
        <p:spPr>
          <a:xfrm>
            <a:off x="766750" y="1078075"/>
            <a:ext cx="7610474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0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1"/>
          <p:cNvPicPr preferRelativeResize="0"/>
          <p:nvPr/>
        </p:nvPicPr>
        <p:blipFill rotWithShape="1">
          <a:blip r:embed="rId3">
            <a:alphaModFix/>
          </a:blip>
          <a:srcRect b="37261" l="1000" r="1000" t="0"/>
          <a:stretch/>
        </p:blipFill>
        <p:spPr>
          <a:xfrm>
            <a:off x="766750" y="2516350"/>
            <a:ext cx="7610474" cy="2055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31"/>
          <p:cNvGrpSpPr/>
          <p:nvPr/>
        </p:nvGrpSpPr>
        <p:grpSpPr>
          <a:xfrm>
            <a:off x="-428475" y="866975"/>
            <a:ext cx="3000000" cy="461700"/>
            <a:chOff x="-228450" y="1612275"/>
            <a:chExt cx="3000000" cy="461700"/>
          </a:xfrm>
        </p:grpSpPr>
        <p:sp>
          <p:nvSpPr>
            <p:cNvPr id="252" name="Google Shape;252;p31"/>
            <p:cNvSpPr/>
            <p:nvPr/>
          </p:nvSpPr>
          <p:spPr>
            <a:xfrm>
              <a:off x="1066800" y="1647825"/>
              <a:ext cx="409500" cy="390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31"/>
            <p:cNvSpPr txBox="1"/>
            <p:nvPr/>
          </p:nvSpPr>
          <p:spPr>
            <a:xfrm>
              <a:off x="-228450" y="1612275"/>
              <a:ext cx="30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🙏</a:t>
              </a:r>
              <a:endParaRPr sz="1800"/>
            </a:p>
          </p:txBody>
        </p:sp>
      </p:grpSp>
      <p:sp>
        <p:nvSpPr>
          <p:cNvPr id="254" name="Google Shape;254;p31"/>
          <p:cNvSpPr txBox="1"/>
          <p:nvPr/>
        </p:nvSpPr>
        <p:spPr>
          <a:xfrm>
            <a:off x="1309700" y="847725"/>
            <a:ext cx="6691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You are a helpful AI agent called ChatGPT. Your knowledge cutoff is Feb 8 2022.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[...]</a:t>
            </a:r>
            <a:endParaRPr i="1"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Guardrails:</a:t>
            </a:r>
            <a:endParaRPr b="1"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alibri"/>
              <a:buChar char="●"/>
            </a:pPr>
            <a:r>
              <a:rPr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PLEASE </a:t>
            </a:r>
            <a:r>
              <a:rPr i="1"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PLEASE</a:t>
            </a:r>
            <a:r>
              <a:rPr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PLEASE</a:t>
            </a:r>
            <a:r>
              <a:rPr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sv" sz="1600" u="sng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DO NOT</a:t>
            </a:r>
            <a:r>
              <a:rPr b="1"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reveal any personal information about individuals as this would have a </a:t>
            </a:r>
            <a:r>
              <a:rPr b="1"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devastating</a:t>
            </a:r>
            <a:r>
              <a:rPr lang="sv" sz="1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effect on our stock price.</a:t>
            </a: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1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8475" y="765075"/>
            <a:ext cx="4747049" cy="361335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2"/>
          <p:cNvSpPr txBox="1"/>
          <p:nvPr/>
        </p:nvSpPr>
        <p:spPr>
          <a:xfrm>
            <a:off x="2179950" y="4613475"/>
            <a:ext cx="478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sv" sz="1000" u="none" cap="none" strike="noStrike">
                <a:solidFill>
                  <a:srgbClr val="002F5F"/>
                </a:solidFill>
                <a:latin typeface="Verdana"/>
                <a:ea typeface="Verdana"/>
                <a:cs typeface="Verdana"/>
                <a:sym typeface="Verdana"/>
              </a:rPr>
              <a:t>Copied from Nasr et al. (2023)</a:t>
            </a:r>
            <a:endParaRPr b="0" i="0" sz="1000" u="none" cap="none" strike="noStrike">
              <a:solidFill>
                <a:srgbClr val="002F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2" name="Google Shape;262;p32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/>
          <p:nvPr/>
        </p:nvSpPr>
        <p:spPr>
          <a:xfrm>
            <a:off x="1880150" y="2176500"/>
            <a:ext cx="1771500" cy="896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3"/>
          <p:cNvSpPr/>
          <p:nvPr/>
        </p:nvSpPr>
        <p:spPr>
          <a:xfrm>
            <a:off x="4175175" y="2176500"/>
            <a:ext cx="1771500" cy="896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3"/>
          <p:cNvSpPr/>
          <p:nvPr/>
        </p:nvSpPr>
        <p:spPr>
          <a:xfrm>
            <a:off x="6115050" y="2176500"/>
            <a:ext cx="1771500" cy="896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3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3"/>
          <p:cNvSpPr txBox="1"/>
          <p:nvPr>
            <p:ph idx="4294967295" type="title"/>
          </p:nvPr>
        </p:nvSpPr>
        <p:spPr>
          <a:xfrm>
            <a:off x="347438" y="250988"/>
            <a:ext cx="464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LLMs are trained on </a:t>
            </a:r>
            <a:r>
              <a:rPr b="1" i="1" lang="sv"/>
              <a:t>tokens</a:t>
            </a:r>
            <a:endParaRPr b="1" i="1"/>
          </a:p>
        </p:txBody>
      </p:sp>
      <p:sp>
        <p:nvSpPr>
          <p:cNvPr id="272" name="Google Shape;272;p33"/>
          <p:cNvSpPr txBox="1"/>
          <p:nvPr/>
        </p:nvSpPr>
        <p:spPr>
          <a:xfrm>
            <a:off x="600075" y="2070600"/>
            <a:ext cx="8197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5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P( cats |  I   like )</a:t>
            </a:r>
            <a:endParaRPr sz="5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1880150" y="2176500"/>
            <a:ext cx="1771500" cy="89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6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3"/>
          <p:cNvSpPr txBox="1"/>
          <p:nvPr/>
        </p:nvSpPr>
        <p:spPr>
          <a:xfrm>
            <a:off x="600075" y="2070600"/>
            <a:ext cx="8197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5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P( cats |  I   like )</a:t>
            </a:r>
            <a:endParaRPr sz="5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1880150" y="2176500"/>
            <a:ext cx="1771500" cy="896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v" sz="5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3489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4175175" y="2176500"/>
            <a:ext cx="1771500" cy="896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5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793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6115050" y="2176500"/>
            <a:ext cx="1771500" cy="896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5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643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3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4"/>
          <p:cNvSpPr txBox="1"/>
          <p:nvPr>
            <p:ph idx="4294967295" type="title"/>
          </p:nvPr>
        </p:nvSpPr>
        <p:spPr>
          <a:xfrm>
            <a:off x="347438" y="250988"/>
            <a:ext cx="464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LLMs are trained on </a:t>
            </a:r>
            <a:r>
              <a:rPr b="1" i="1" lang="sv"/>
              <a:t>tokens</a:t>
            </a:r>
            <a:endParaRPr b="1" i="1"/>
          </a:p>
        </p:txBody>
      </p:sp>
      <p:sp>
        <p:nvSpPr>
          <p:cNvPr id="285" name="Google Shape;285;p34"/>
          <p:cNvSpPr/>
          <p:nvPr/>
        </p:nvSpPr>
        <p:spPr>
          <a:xfrm>
            <a:off x="792000" y="1512875"/>
            <a:ext cx="6849600" cy="3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LLMs learn </a:t>
            </a:r>
            <a:r>
              <a:rPr i="1"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patterns</a:t>
            </a:r>
            <a:endParaRPr i="1" sz="1800" u="none" cap="none" strike="noStrike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They do not </a:t>
            </a:r>
            <a:r>
              <a:rPr i="1"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understand </a:t>
            </a: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anything</a:t>
            </a:r>
            <a:endParaRPr b="1" i="0" sz="1800" u="none" cap="none" strike="noStrike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So </a:t>
            </a:r>
            <a:r>
              <a:rPr i="1"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useful memorization</a:t>
            </a: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, e.g,  </a:t>
            </a:r>
            <a:r>
              <a:rPr b="1"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P(Sweden | Stockholm is in)</a:t>
            </a: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is indistinguishable from </a:t>
            </a:r>
            <a:r>
              <a:rPr b="1"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P(950208-XXXX | Thomas’s personnummer is)</a:t>
            </a:r>
            <a:endParaRPr b="1"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4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5500" y="1223913"/>
            <a:ext cx="3793000" cy="320934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5"/>
          <p:cNvSpPr txBox="1"/>
          <p:nvPr/>
        </p:nvSpPr>
        <p:spPr>
          <a:xfrm>
            <a:off x="2179950" y="4613475"/>
            <a:ext cx="478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sv" sz="1000" u="sng" cap="none" strike="noStrike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https://thorehusfeldt.com/2023/03/02/reinforcement-learning-using-human-feedback-is-putting-smileys-on-a-shoggoth/</a:t>
            </a:r>
            <a:endParaRPr b="0" i="0" sz="1000" u="none" cap="none" strike="noStrike">
              <a:solidFill>
                <a:srgbClr val="002F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3" name="Google Shape;293;p35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5"/>
          <p:cNvSpPr txBox="1"/>
          <p:nvPr>
            <p:ph idx="4294967295" type="title"/>
          </p:nvPr>
        </p:nvSpPr>
        <p:spPr>
          <a:xfrm>
            <a:off x="347438" y="250988"/>
            <a:ext cx="464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“Putting Smileys on a Shoggoth”</a:t>
            </a:r>
            <a:endParaRPr b="1"/>
          </a:p>
        </p:txBody>
      </p:sp>
      <p:sp>
        <p:nvSpPr>
          <p:cNvPr id="295" name="Google Shape;295;p35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6"/>
          <p:cNvSpPr txBox="1"/>
          <p:nvPr>
            <p:ph idx="4294967295" type="title"/>
          </p:nvPr>
        </p:nvSpPr>
        <p:spPr>
          <a:xfrm>
            <a:off x="347438" y="250988"/>
            <a:ext cx="464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Adding structure to chaos </a:t>
            </a:r>
            <a:r>
              <a:rPr b="1" lang="sv"/>
              <a:t>(?)</a:t>
            </a:r>
            <a:endParaRPr b="1"/>
          </a:p>
        </p:txBody>
      </p:sp>
      <p:sp>
        <p:nvSpPr>
          <p:cNvPr id="302" name="Google Shape;302;p36"/>
          <p:cNvSpPr txBox="1"/>
          <p:nvPr/>
        </p:nvSpPr>
        <p:spPr>
          <a:xfrm>
            <a:off x="762000" y="1885950"/>
            <a:ext cx="39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792000" y="1512875"/>
            <a:ext cx="6849600" cy="3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Retrieval augmented generation (RAG) for less hallucination</a:t>
            </a:r>
            <a:endParaRPr i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Agent memory for personalization and context management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Tool calling for non-language tasks (math, </a:t>
            </a:r>
            <a:r>
              <a:rPr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file manipulation</a:t>
            </a:r>
            <a:r>
              <a:rPr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etc)</a:t>
            </a:r>
            <a:endParaRPr i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Delegate </a:t>
            </a:r>
            <a:r>
              <a:rPr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tasks to </a:t>
            </a:r>
            <a:r>
              <a:rPr b="1"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ub-agents</a:t>
            </a:r>
            <a:r>
              <a:rPr lang="sv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475" y="3211712"/>
            <a:ext cx="2106125" cy="1782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36"/>
          <p:cNvCxnSpPr/>
          <p:nvPr/>
        </p:nvCxnSpPr>
        <p:spPr>
          <a:xfrm>
            <a:off x="3429000" y="4065350"/>
            <a:ext cx="141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06" name="Google Shape;30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6775" y="3380000"/>
            <a:ext cx="537575" cy="4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3675" y="3948775"/>
            <a:ext cx="537575" cy="4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2825" y="3316300"/>
            <a:ext cx="537575" cy="4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0975" y="3837937"/>
            <a:ext cx="537575" cy="4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4800" y="3316300"/>
            <a:ext cx="537575" cy="4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4400" y="4359575"/>
            <a:ext cx="537575" cy="4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8275" y="3806550"/>
            <a:ext cx="537575" cy="4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6475" y="4359562"/>
            <a:ext cx="537575" cy="45487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6"/>
          <p:cNvSpPr txBox="1"/>
          <p:nvPr>
            <p:ph idx="4294967295" type="title"/>
          </p:nvPr>
        </p:nvSpPr>
        <p:spPr>
          <a:xfrm>
            <a:off x="347447" y="251000"/>
            <a:ext cx="36006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Adding structure to chaos</a:t>
            </a:r>
            <a:endParaRPr b="1"/>
          </a:p>
        </p:txBody>
      </p:sp>
      <p:pic>
        <p:nvPicPr>
          <p:cNvPr id="315" name="Google Shape;31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2275" y="4403650"/>
            <a:ext cx="537575" cy="4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8937" y="3230762"/>
            <a:ext cx="2106125" cy="178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4400" y="4359575"/>
            <a:ext cx="537575" cy="45487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6"/>
          <p:cNvSpPr txBox="1"/>
          <p:nvPr/>
        </p:nvSpPr>
        <p:spPr>
          <a:xfrm>
            <a:off x="4942975" y="3276975"/>
            <a:ext cx="4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⛏️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6"/>
          <p:cNvSpPr txBox="1"/>
          <p:nvPr/>
        </p:nvSpPr>
        <p:spPr>
          <a:xfrm>
            <a:off x="4942975" y="4386888"/>
            <a:ext cx="4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6"/>
          <p:cNvSpPr txBox="1"/>
          <p:nvPr/>
        </p:nvSpPr>
        <p:spPr>
          <a:xfrm>
            <a:off x="6212825" y="3276975"/>
            <a:ext cx="4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🔨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6"/>
          <p:cNvSpPr txBox="1"/>
          <p:nvPr/>
        </p:nvSpPr>
        <p:spPr>
          <a:xfrm>
            <a:off x="5213675" y="3840313"/>
            <a:ext cx="4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🪛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6"/>
          <p:cNvSpPr txBox="1"/>
          <p:nvPr/>
        </p:nvSpPr>
        <p:spPr>
          <a:xfrm>
            <a:off x="5803325" y="3771175"/>
            <a:ext cx="4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6"/>
          <p:cNvSpPr txBox="1"/>
          <p:nvPr/>
        </p:nvSpPr>
        <p:spPr>
          <a:xfrm>
            <a:off x="6276525" y="4296800"/>
            <a:ext cx="4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📕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6494550" y="3833875"/>
            <a:ext cx="4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🪚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6"/>
          <p:cNvSpPr txBox="1"/>
          <p:nvPr/>
        </p:nvSpPr>
        <p:spPr>
          <a:xfrm>
            <a:off x="5654725" y="3245550"/>
            <a:ext cx="4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v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6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7" title="Namnlöst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663" y="152400"/>
            <a:ext cx="750492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7"/>
          <p:cNvSpPr/>
          <p:nvPr/>
        </p:nvSpPr>
        <p:spPr>
          <a:xfrm>
            <a:off x="261250" y="192800"/>
            <a:ext cx="2253900" cy="3484500"/>
          </a:xfrm>
          <a:prstGeom prst="rect">
            <a:avLst/>
          </a:prstGeom>
          <a:solidFill>
            <a:srgbClr val="2BFF00">
              <a:alpha val="28640"/>
            </a:srgbClr>
          </a:solidFill>
          <a:ln cap="flat" cmpd="sng" w="9525">
            <a:solidFill>
              <a:srgbClr val="73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3FF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3" name="Google Shape;333;p37" title="PREVIEW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42677">
            <a:off x="2361690" y="539525"/>
            <a:ext cx="1441195" cy="2113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4" name="Google Shape;334;p37"/>
          <p:cNvSpPr/>
          <p:nvPr/>
        </p:nvSpPr>
        <p:spPr>
          <a:xfrm>
            <a:off x="3683225" y="3599400"/>
            <a:ext cx="3511500" cy="1437000"/>
          </a:xfrm>
          <a:prstGeom prst="rect">
            <a:avLst/>
          </a:prstGeom>
          <a:solidFill>
            <a:srgbClr val="FF1C00">
              <a:alpha val="2864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3FF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5" name="Google Shape;335;p37"/>
          <p:cNvSpPr/>
          <p:nvPr/>
        </p:nvSpPr>
        <p:spPr>
          <a:xfrm>
            <a:off x="5813775" y="900275"/>
            <a:ext cx="2583300" cy="2404500"/>
          </a:xfrm>
          <a:prstGeom prst="rect">
            <a:avLst/>
          </a:prstGeom>
          <a:solidFill>
            <a:srgbClr val="FF1C00">
              <a:alpha val="2864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3FF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6" name="Google Shape;336;p37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8"/>
          <p:cNvPicPr preferRelativeResize="0"/>
          <p:nvPr/>
        </p:nvPicPr>
        <p:blipFill rotWithShape="1">
          <a:blip r:embed="rId3">
            <a:alphaModFix/>
          </a:blip>
          <a:srcRect b="43146" l="0" r="0" t="0"/>
          <a:stretch/>
        </p:blipFill>
        <p:spPr>
          <a:xfrm>
            <a:off x="518025" y="1109600"/>
            <a:ext cx="7622200" cy="2924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6700" y="3096050"/>
            <a:ext cx="734900" cy="70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8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629" y="1346812"/>
            <a:ext cx="5495444" cy="244987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9"/>
          <p:cNvSpPr/>
          <p:nvPr/>
        </p:nvSpPr>
        <p:spPr>
          <a:xfrm>
            <a:off x="1881775" y="3091113"/>
            <a:ext cx="3510600" cy="406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9"/>
          <p:cNvSpPr/>
          <p:nvPr/>
        </p:nvSpPr>
        <p:spPr>
          <a:xfrm>
            <a:off x="1881775" y="2742613"/>
            <a:ext cx="3510600" cy="406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9"/>
          <p:cNvSpPr/>
          <p:nvPr/>
        </p:nvSpPr>
        <p:spPr>
          <a:xfrm>
            <a:off x="1881775" y="2368500"/>
            <a:ext cx="3510600" cy="406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0948" y="1597000"/>
            <a:ext cx="2797126" cy="1949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9513" y="1441575"/>
            <a:ext cx="2520000" cy="226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6538" y="1840230"/>
            <a:ext cx="1885950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9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40"/>
          <p:cNvPicPr preferRelativeResize="0"/>
          <p:nvPr/>
        </p:nvPicPr>
        <p:blipFill rotWithShape="1">
          <a:blip r:embed="rId3">
            <a:alphaModFix/>
          </a:blip>
          <a:srcRect b="-1070" l="0" r="0" t="1070"/>
          <a:stretch/>
        </p:blipFill>
        <p:spPr>
          <a:xfrm>
            <a:off x="518025" y="70500"/>
            <a:ext cx="7622200" cy="514354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0"/>
          <p:cNvSpPr/>
          <p:nvPr/>
        </p:nvSpPr>
        <p:spPr>
          <a:xfrm>
            <a:off x="2251375" y="3479375"/>
            <a:ext cx="1503600" cy="228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0"/>
          <p:cNvSpPr/>
          <p:nvPr/>
        </p:nvSpPr>
        <p:spPr>
          <a:xfrm>
            <a:off x="1928625" y="4069750"/>
            <a:ext cx="1503600" cy="283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0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1" title="agentic risks-Page-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438075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1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42" title="agentic risks-Page-1.drawio.png"/>
          <p:cNvPicPr preferRelativeResize="0"/>
          <p:nvPr/>
        </p:nvPicPr>
        <p:blipFill rotWithShape="1">
          <a:blip r:embed="rId3">
            <a:alphaModFix/>
          </a:blip>
          <a:srcRect b="13848" l="-374" r="6864" t="-2109"/>
          <a:stretch/>
        </p:blipFill>
        <p:spPr>
          <a:xfrm>
            <a:off x="1189900" y="533325"/>
            <a:ext cx="6278451" cy="40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2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3"/>
          <p:cNvSpPr/>
          <p:nvPr/>
        </p:nvSpPr>
        <p:spPr>
          <a:xfrm>
            <a:off x="792000" y="1512875"/>
            <a:ext cx="6849600" cy="3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How do we make agents respect privacy?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○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Routing local LLMs and cloud-based LLMs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What data sources are justified from a privacy perspective?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400"/>
              <a:buFont typeface="Calibri"/>
              <a:buChar char="○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Can we ensure models use the </a:t>
            </a:r>
            <a:r>
              <a:rPr i="1"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least</a:t>
            </a: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 amount of private information necessary?</a:t>
            </a:r>
            <a:endParaRPr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F5F"/>
              </a:buClr>
              <a:buSzPts val="1800"/>
              <a:buFont typeface="Calibri"/>
              <a:buChar char="●"/>
            </a:pPr>
            <a:r>
              <a:rPr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Can agents ask for </a:t>
            </a:r>
            <a:r>
              <a:rPr i="1" lang="sv" sz="1800">
                <a:solidFill>
                  <a:srgbClr val="002F5F"/>
                </a:solidFill>
                <a:latin typeface="Calibri"/>
                <a:ea typeface="Calibri"/>
                <a:cs typeface="Calibri"/>
                <a:sym typeface="Calibri"/>
              </a:rPr>
              <a:t>informed consent?</a:t>
            </a:r>
            <a:endParaRPr i="1" sz="1800">
              <a:solidFill>
                <a:srgbClr val="002F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3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3"/>
          <p:cNvSpPr txBox="1"/>
          <p:nvPr>
            <p:ph idx="4294967295" type="title"/>
          </p:nvPr>
        </p:nvSpPr>
        <p:spPr>
          <a:xfrm>
            <a:off x="347438" y="250988"/>
            <a:ext cx="464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Agents and privacy</a:t>
            </a:r>
            <a:endParaRPr b="1"/>
          </a:p>
        </p:txBody>
      </p:sp>
      <p:sp>
        <p:nvSpPr>
          <p:cNvPr id="383" name="Google Shape;383;p43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4"/>
          <p:cNvSpPr txBox="1"/>
          <p:nvPr>
            <p:ph idx="4294967295" type="ctrTitle"/>
          </p:nvPr>
        </p:nvSpPr>
        <p:spPr>
          <a:xfrm>
            <a:off x="1255650" y="1988798"/>
            <a:ext cx="6632700" cy="63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v" sz="4400"/>
              <a:t>Questions?</a:t>
            </a:r>
            <a:endParaRPr sz="4400"/>
          </a:p>
        </p:txBody>
      </p:sp>
      <p:sp>
        <p:nvSpPr>
          <p:cNvPr id="389" name="Google Shape;389;p44"/>
          <p:cNvSpPr txBox="1"/>
          <p:nvPr>
            <p:ph idx="4294967295" type="subTitle"/>
          </p:nvPr>
        </p:nvSpPr>
        <p:spPr>
          <a:xfrm>
            <a:off x="1255650" y="3614750"/>
            <a:ext cx="6632700" cy="8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sv"/>
              <a:t>Thomas Vakili, PhD</a:t>
            </a:r>
            <a:endParaRPr b="1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sv"/>
              <a:t>thomas.vakili@dsv.su.se</a:t>
            </a:r>
            <a:br>
              <a:rPr lang="sv"/>
            </a:br>
            <a:r>
              <a:rPr lang="sv"/>
              <a:t>thomas@vakili.net</a:t>
            </a:r>
            <a:br>
              <a:rPr lang="sv"/>
            </a:br>
            <a:r>
              <a:rPr lang="sv"/>
              <a:t>https://vakili.science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/>
        </p:nvSpPr>
        <p:spPr>
          <a:xfrm>
            <a:off x="2330650" y="4879800"/>
            <a:ext cx="49080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sv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b="0" i="0" lang="sv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US Olympic Swim Trials - Omaha, NE </a:t>
            </a:r>
            <a:r>
              <a:rPr b="0" i="0" lang="sv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by</a:t>
            </a:r>
            <a:r>
              <a:rPr b="0" i="0" lang="sv" sz="800" u="none" cap="none" strike="noStrike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 </a:t>
            </a:r>
            <a:r>
              <a:rPr b="0" i="0" lang="sv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vwcampin </a:t>
            </a:r>
            <a:r>
              <a:rPr b="0" i="0" lang="sv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licensed under</a:t>
            </a:r>
            <a:r>
              <a:rPr b="0" i="0" lang="sv" sz="800" u="none" cap="none" strike="noStrike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/>
              </a:rPr>
              <a:t> </a:t>
            </a:r>
            <a:r>
              <a:rPr b="0" i="0" lang="sv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CC BY 2.0 </a:t>
            </a:r>
            <a:r>
              <a:rPr b="0" i="0" lang="sv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5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5"/>
          <p:cNvSpPr txBox="1"/>
          <p:nvPr>
            <p:ph type="title"/>
          </p:nvPr>
        </p:nvSpPr>
        <p:spPr>
          <a:xfrm>
            <a:off x="108102" y="251800"/>
            <a:ext cx="5002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Bible-filled swimming pools</a:t>
            </a:r>
            <a:endParaRPr b="1"/>
          </a:p>
        </p:txBody>
      </p:sp>
      <p:pic>
        <p:nvPicPr>
          <p:cNvPr id="397" name="Google Shape;397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11700" y="1912225"/>
            <a:ext cx="2434850" cy="182614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5"/>
          <p:cNvSpPr txBox="1"/>
          <p:nvPr>
            <p:ph idx="12" type="sldNum"/>
          </p:nvPr>
        </p:nvSpPr>
        <p:spPr>
          <a:xfrm>
            <a:off x="138701" y="4752975"/>
            <a:ext cx="329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 sz="1200"/>
              <a:t>‹#›</a:t>
            </a:fld>
            <a:endParaRPr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"/>
          <p:cNvSpPr txBox="1"/>
          <p:nvPr/>
        </p:nvSpPr>
        <p:spPr>
          <a:xfrm>
            <a:off x="2330650" y="4879800"/>
            <a:ext cx="49080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sv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b="0" i="0" lang="sv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US Olympic Swim Trials - Omaha, NE </a:t>
            </a:r>
            <a:r>
              <a:rPr b="0" i="0" lang="sv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 by</a:t>
            </a:r>
            <a:r>
              <a:rPr b="0" i="0" lang="sv" sz="800" u="none" cap="none" strike="noStrike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 </a:t>
            </a:r>
            <a:r>
              <a:rPr b="0" i="0" lang="sv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vwcampin </a:t>
            </a:r>
            <a:r>
              <a:rPr b="0" i="0" lang="sv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licensed under</a:t>
            </a:r>
            <a:r>
              <a:rPr b="0" i="0" lang="sv" sz="800" u="none" cap="none" strike="noStrike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/>
              </a:rPr>
              <a:t> </a:t>
            </a:r>
            <a:r>
              <a:rPr b="0" i="0" lang="sv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CC BY 2.0 </a:t>
            </a:r>
            <a:r>
              <a:rPr b="0" i="0" lang="sv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8383" y="1319913"/>
            <a:ext cx="1916257" cy="10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6"/>
          <p:cNvSpPr txBox="1"/>
          <p:nvPr>
            <p:ph idx="12" type="sldNum"/>
          </p:nvPr>
        </p:nvSpPr>
        <p:spPr>
          <a:xfrm>
            <a:off x="138701" y="4752975"/>
            <a:ext cx="329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 sz="1200"/>
              <a:t>‹#›</a:t>
            </a:fld>
            <a:endParaRPr sz="1200"/>
          </a:p>
        </p:txBody>
      </p:sp>
      <p:pic>
        <p:nvPicPr>
          <p:cNvPr id="406" name="Google Shape;406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79995" y="1319913"/>
            <a:ext cx="1916257" cy="10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11608" y="1319913"/>
            <a:ext cx="1916257" cy="10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3583" y="1810113"/>
            <a:ext cx="1916257" cy="10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25195" y="1810113"/>
            <a:ext cx="1916257" cy="10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56808" y="1810113"/>
            <a:ext cx="1916257" cy="10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73308" y="2327913"/>
            <a:ext cx="1916257" cy="10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8508" y="2818113"/>
            <a:ext cx="1916257" cy="10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0120" y="2818113"/>
            <a:ext cx="1916257" cy="10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81733" y="2818113"/>
            <a:ext cx="1916257" cy="10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15883" y="3350213"/>
            <a:ext cx="1916257" cy="10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47495" y="3350213"/>
            <a:ext cx="1916257" cy="10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79108" y="3350213"/>
            <a:ext cx="1916257" cy="10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6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6"/>
          <p:cNvSpPr txBox="1"/>
          <p:nvPr>
            <p:ph type="title"/>
          </p:nvPr>
        </p:nvSpPr>
        <p:spPr>
          <a:xfrm>
            <a:off x="108102" y="251800"/>
            <a:ext cx="50028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Bible-filled swimming pools</a:t>
            </a:r>
            <a:endParaRPr b="1"/>
          </a:p>
        </p:txBody>
      </p:sp>
      <p:pic>
        <p:nvPicPr>
          <p:cNvPr id="420" name="Google Shape;420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74839" y="1397474"/>
            <a:ext cx="4708572" cy="26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7"/>
          <p:cNvSpPr/>
          <p:nvPr/>
        </p:nvSpPr>
        <p:spPr>
          <a:xfrm>
            <a:off x="0" y="250988"/>
            <a:ext cx="5089500" cy="646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7"/>
          <p:cNvSpPr txBox="1"/>
          <p:nvPr>
            <p:ph idx="4294967295" type="title"/>
          </p:nvPr>
        </p:nvSpPr>
        <p:spPr>
          <a:xfrm>
            <a:off x="347438" y="250988"/>
            <a:ext cx="4646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sv"/>
              <a:t>Stupid problems</a:t>
            </a:r>
            <a:endParaRPr b="1"/>
          </a:p>
        </p:txBody>
      </p:sp>
      <p:pic>
        <p:nvPicPr>
          <p:cNvPr id="427" name="Google Shape;42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1200" y="1590675"/>
            <a:ext cx="4461601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7"/>
          <p:cNvSpPr txBox="1"/>
          <p:nvPr>
            <p:ph idx="12" type="sldNum"/>
          </p:nvPr>
        </p:nvSpPr>
        <p:spPr>
          <a:xfrm>
            <a:off x="39350" y="4752975"/>
            <a:ext cx="428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ockholms Universitet">
  <a:themeElements>
    <a:clrScheme name="Stockholms Universitet - Färger">
      <a:dk1>
        <a:srgbClr val="000000"/>
      </a:dk1>
      <a:lt1>
        <a:srgbClr val="FFFFFF"/>
      </a:lt1>
      <a:dk2>
        <a:srgbClr val="002F5F"/>
      </a:dk2>
      <a:lt2>
        <a:srgbClr val="F8F8F8"/>
      </a:lt2>
      <a:accent1>
        <a:srgbClr val="002F5F"/>
      </a:accent1>
      <a:accent2>
        <a:srgbClr val="ACDEE6"/>
      </a:accent2>
      <a:accent3>
        <a:srgbClr val="9BB2CE"/>
      </a:accent3>
      <a:accent4>
        <a:srgbClr val="EB7125"/>
      </a:accent4>
      <a:accent5>
        <a:srgbClr val="A3A86B"/>
      </a:accent5>
      <a:accent6>
        <a:srgbClr val="33587F"/>
      </a:accent6>
      <a:hlink>
        <a:srgbClr val="002F5F"/>
      </a:hlink>
      <a:folHlink>
        <a:srgbClr val="3358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